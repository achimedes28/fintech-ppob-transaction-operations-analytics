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</a:defRPr>
            </a:pPr>
            <a:r>
              <a:t>DATA ANALYTICS CASE STUDY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Fintech &amp; PPOB Transaction Operations Analytics</a:t>
            </a:r>
          </a:p>
          <a:p>
            <a:pPr>
              <a:spcAft>
                <a:spcPts val="3000"/>
              </a:spcAft>
              <a:defRPr sz="1800">
                <a:solidFill>
                  <a:srgbClr val="CBD5E1"/>
                </a:solidFill>
              </a:defRPr>
            </a:pPr>
            <a:r>
              <a:t>Volume Pareto, SLA Failure Bottlenecks, Peak Load Dynamics &amp; Smart Routing Strategy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Dataset: 316,376 Live Operational Transactions | Tech Stack: SQL, Python (Pandas/Seaborn), Tableau | Author: Novaldi Ramadhan Waluyo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Operational Performance &amp; SLA Health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TOTAL VOLUME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316,376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Analyzed across 3 operational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463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SUCCESS RATE</a:t>
            </a:r>
          </a:p>
          <a:p>
            <a:pPr>
              <a:defRPr sz="2200" b="1">
                <a:solidFill>
                  <a:srgbClr val="10B981"/>
                </a:solidFill>
              </a:defRPr>
            </a:pPr>
            <a:r>
              <a:t>89.84%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284,226 settled 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FAILURE SLA RISK</a:t>
            </a:r>
          </a:p>
          <a:p>
            <a:pPr>
              <a:defRPr sz="2200" b="1">
                <a:solidFill>
                  <a:srgbClr val="EF4444"/>
                </a:solidFill>
              </a:defRPr>
            </a:pPr>
            <a:r>
              <a:t>10.16%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32,150 failed 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4688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463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FAILURE CONCENTRATION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60.9%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19,585 failures from 2 billers</a:t>
            </a:r>
          </a:p>
        </p:txBody>
      </p:sp>
      <p:pic>
        <p:nvPicPr>
          <p:cNvPr id="12" name="Picture 11" descr="01_overall_statu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34640"/>
            <a:ext cx="5029200" cy="558484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35040" y="2834640"/>
            <a:ext cx="5394960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Key Operational Highlights &amp; Problem Statement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High Volume Baseline: System processed 316.3k transactions with an overall 89.84% success rate.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Critical Failure Concentration: Over 60.9% of all system failures originate from just two vendors (Biller_29 &amp; Biller_26), causing 19,585 failed user requests.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High-Volume Product Risks: Key top-tier products like TNP23 (22.3k tx) suffer a 22.75% failure rate, severely hurting user trust and GMV conversion.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Product Catalog Outliers: Certain micro-SKUs like XDF1000 face a catastrophic 58.73% failure rate, indicating severe API misconfiguration or upstream disconnection.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Peak Evening Strain: Transactions peak between 17:00 - 19:00 WIB (up to 24,787 tx/hr), correlating with vendor timeout spikes.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Product Volume Distribution: Pareto 80/20 Concentration</a:t>
            </a:r>
          </a:p>
        </p:txBody>
      </p:sp>
      <p:pic>
        <p:nvPicPr>
          <p:cNvPr id="4" name="Picture 3" descr="06_pareto_volume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294847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371600"/>
            <a:ext cx="4572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3A8A"/>
                </a:solidFill>
              </a:defRPr>
            </a:pPr>
            <a:r>
              <a:t>Top Revenue Drivers (Volume Analysis)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Heavy Pareto Skew: Top 5 products generate 57.0% of total volume (180.4k tx). Top 15 products represent 82.4% of total traffic.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Leading Star SKU (SB20): SB20 alone commands 79,184 transactions (25.03% market share) with a healthy 94.70% success rate.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Runner Up (XDG1): XDG1 delivers 40,640 transactions (12.85% share) with a resilient 97.05% success rate.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Volume Vulnerability (TNP23): Ranked #3 in volume (22,334 tx) but plagued by a 22.75% failure rate (5,082 failed tx).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Operational Implication: Prioritizing reliability for just the top 3 SKUs safeguards ~45% of total business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Operational Hotspots: Products with Critical Failure Rates</a:t>
            </a:r>
          </a:p>
        </p:txBody>
      </p:sp>
      <p:pic>
        <p:nvPicPr>
          <p:cNvPr id="4" name="Picture 3" descr="03_critical_high_failure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381709"/>
          </a:xfrm>
          <a:prstGeom prst="rect">
            <a:avLst/>
          </a:prstGeom>
        </p:spPr>
      </p:pic>
      <p:pic>
        <p:nvPicPr>
          <p:cNvPr id="5" name="Picture 4" descr="02_top10_products_volume_and_failure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4937760" cy="24474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120640"/>
            <a:ext cx="10698480" cy="1280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CRITICAL DIAGNOSTIC FINDINGS:</a:t>
            </a:r>
          </a:p>
          <a:p>
            <a:pPr>
              <a:defRPr sz="1050">
                <a:solidFill>
                  <a:srgbClr val="7F1D1D"/>
                </a:solidFill>
              </a:defRPr>
            </a:pPr>
            <a:r>
              <a:t>1. XDF1000 &amp; XDF500: Extreme failure rates (58.73% and 32.26%) indicate upstream vendor denomination mismatch or depleted balance on partner switchboards.</a:t>
            </a:r>
            <a:br/>
            <a:r>
              <a:t>2. TNP Series (TNP23 &amp; TNP13): High demand products with 22.75% to 35.00% fail rates need immediate dynamic failover to alternative billers.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Vendor SLA Matrix: Biller Volume vs Failure Concentration</a:t>
            </a:r>
          </a:p>
        </p:txBody>
      </p:sp>
      <p:pic>
        <p:nvPicPr>
          <p:cNvPr id="4" name="Picture 3" descr="04_biller_performance_and_s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315200" cy="32478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371600"/>
            <a:ext cx="32004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1508760"/>
            <a:ext cx="2926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3A8A"/>
                </a:solidFill>
              </a:defRPr>
            </a:pPr>
            <a:r>
              <a:t>Vendor SLA Insights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Biller_27 Dominance: Handles 50.4% (159.4k tx) with solid 94.3% SLA. Core backbone.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Biller_29 Alert: 60.6% success rate (39.38% fail rate!). Contributes 31.4% of all system errors.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Biller_26 Bottleneck: 73.96% success rate (26.04% fail). Contributes 29.5% of all errors.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Vendor Risk: Together, Biller_29 &amp; 26 generate 60.9% of system failures despite only 19.6% of volume!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Action Required: Institute SLA penalty clauses and reroute traffic dynamically when vendor fail rate exceeds 10%.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Temporal Load Analysis: 24-Hour Traffic Curve &amp; Failure Patterns</a:t>
            </a:r>
          </a:p>
        </p:txBody>
      </p:sp>
      <p:pic>
        <p:nvPicPr>
          <p:cNvPr id="4" name="Picture 3" descr="05_hourly_traffic_load_and_failur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3134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371600"/>
            <a:ext cx="36576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55448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3A8A"/>
                </a:solidFill>
              </a:defRPr>
            </a:pPr>
            <a:r>
              <a:t>Traffic &amp; Load Patterns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Evening Peak (17:00 - 19:00): Peak volume hits at 18:00 WIB (24,787 tx/hr), followed by 19:00 WIB (21,792 tx/hr). Represents 21.3% of daily traffic.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Morning Rush (07:00 - 09:00): Sustained high load of ~20,000 tx/hr during morning commute and opening hours.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Off-Peak Trough (01:00 - 04:00): Lowest traffic occurs between 02:00-03:00 WIB (&lt;1,600 tx/hr). Ideal maintenance and batch reconciliation window.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Load-Failure Correlation: Failure rates remain steady around 9.5% - 11.0% across all hours, indicating errors are vendor/SKU-systemic rather than pure server congestion.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B2B Partner Ecosystem &amp; Customer Experience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B2B Partner Exposure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46 Unique B2B Partners integrated into the gateway.</a:t>
            </a:r>
            <a:br/>
            <a:r>
              <a:t>• Top 5 Partners account for 66.0% (208.9k tx) of total system volume.</a:t>
            </a:r>
            <a:br/>
            <a:r>
              <a:t>• Partner_07 is the largest client (79,974 tx), followed by Partner_12 (55,304 tx).</a:t>
            </a:r>
            <a:br/>
            <a:r>
              <a:t>• Risk: Systemic biller failures directly degrade partner SLA, risking B2B churn and SLA penalty clawbacks.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Customer Experience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291,662 unique customer MSISDNs analyzed.</a:t>
            </a:r>
            <a:br/>
            <a:r>
              <a:t>• Over 32,150 failed transactions created customer friction and support tickets.</a:t>
            </a:r>
            <a:br/>
            <a:r>
              <a:t>• Repeat failures cause users to abandon checkout or switch to competitor platforms.</a:t>
            </a:r>
            <a:br/>
            <a:r>
              <a:t>• Preserving customer lifetime value requires immediate auto-retry and real-time status transparency.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</a:defRPr>
            </a:pPr>
            <a:r>
              <a:t>Revenue Opportunity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Recovering 70% of failed transactions via Smart Fallback Routing would salvage ~22,500 transactions per 3-day window.</a:t>
            </a:r>
            <a:br/>
            <a:r>
              <a:t>• Annualized Potential: Recovers ~2.7M transactions and protects millions in GMV.</a:t>
            </a:r>
            <a:br/>
            <a:r>
              <a:t>• Drastically cuts customer service ticket volume related to 'Pending/Failed' recharges.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Actionable Strategy: 4-Pillar Operational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9496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1. Dynamic Smart Routing &amp; Failover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Implement real-time health checks on upstream billers. If Biller_29 or Biller_26 failure rate exceeds 10% in a 5-minute rolling window, automatically route traffic to secondary backup billers (e.g. Biller_27 or Biller_19).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39496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2. Automated Retry with Exponential Backoff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For transient errors on popular products (TNP23, STU15), implement a 3-attempt automated background retry queue before returning a hard 'FAILED' status to the end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39496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</a:defRPr>
            </a:pPr>
            <a:r>
              <a:t>3. Biller SLA Renegotiation &amp; Vendor Penalties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Hold Biller_29 and Biller_26 accountable for breaching 95% SLA thresholds. Enforce contract penalty rebates and set minimum balance monitoring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23360"/>
            <a:ext cx="539496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4. Peak Load Capacity &amp; Queue Provisioning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Scale gateway worker pods by 35% between 16:30 and 20:00 WIB daily to handle peak bursts of 24.7k+ tx/hr without queue timeouts.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Technical Implementation &amp; Portfolio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3A8A"/>
                </a:solidFill>
              </a:defRPr>
            </a:pPr>
            <a:r>
              <a:t>SQL &amp; Database Engineering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Indexed SQLite schema (`idx_date`, `idx_status`, `idx_biller`).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Engineered analytical SQL views (`v_daily_biller_summary`, `v_hourly_traffic`).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Advanced queries: CTEs, Window Functions (`RANK()`, `SUM() OVER`), and Pareto cumulative distributions.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Instant query response on 316k+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D9488"/>
                </a:solidFill>
              </a:defRPr>
            </a:pPr>
            <a:r>
              <a:t>Python Data Analytics Pipeline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Pandas for high-volume data cleaning, type coercion &amp; aggregation.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Anonymized PII with deterministic hashing &amp; mapping verification.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Automated visualization generator (Seaborn &amp; Matplotlib at 300 DPI).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Automated PowerPoint reporting engine via `python-pptx`.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Business Impact &amp; BI Modeling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Pareto 80/20 product revenue concentration.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Vendor SLA gap analysis &amp; failure concentration modeling.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24-Hour peak load capacity sizing.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Strategic roadmap with estimated 2.7M annualized transaction recovery.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PORTFOLIO SUMMARY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Thank You / Q&amp;A</a:t>
            </a:r>
          </a:p>
          <a:p>
            <a:pPr>
              <a:spcAft>
                <a:spcPts val="2500"/>
              </a:spcAft>
              <a:defRPr sz="1600">
                <a:solidFill>
                  <a:srgbClr val="CBD5E1"/>
                </a:solidFill>
              </a:defRPr>
            </a:pPr>
            <a:r>
              <a:t>This end-to-end project demonstrates business problem framing, SQL data modeling, exploratory data analysis, root-cause diagnostics, and executive presentation design.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Candidate: Novaldi Ramadhan Waluyo | Email: novaldiramadhan28@gmail.com | GitHub: github.com/Achimedes28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