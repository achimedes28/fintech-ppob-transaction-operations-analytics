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DATA ANALYTICS CASE STUDY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Fintech &amp; PPOB Transaction Operations Analytics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</a:defRPr>
            </a:pPr>
            <a:r>
              <a:t>Volume Concentration, Biller Failure Bottlenecks, Peak Load Patterns &amp; Vendor Risk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Dataset: 316,376 masked transactions (1, 5 and 6 Aug 2026) | Tech Stack: SQL, Python (pandas/Seaborn), Power BI | Author: Novaldi Ramadhan Waluyo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Operational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TOTAL VOLUME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316,376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Analyzed across 3 operational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SUCCESS RATE</a:t>
            </a:r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89.84%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284,226 settled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FAILURE RATE</a:t>
            </a:r>
          </a:p>
          <a:p>
            <a:pPr>
              <a:defRPr sz="2200" b="1">
                <a:solidFill>
                  <a:srgbClr val="EF4444"/>
                </a:solidFill>
              </a:defRPr>
            </a:pPr>
            <a:r>
              <a:t>10.16%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32,150 failed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463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FAILURE CONCENTRATION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60.9%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19,585 failures from 2 billers</a:t>
            </a:r>
          </a:p>
        </p:txBody>
      </p:sp>
      <p:pic>
        <p:nvPicPr>
          <p:cNvPr id="12" name="Picture 11" descr="01_overall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3141041" cy="35661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35040" y="2834640"/>
            <a:ext cx="539496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Key Operational Highlights &amp; Problem Statement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Volume Baseline: 316.4k transactions over three days with an overall 89.84% success rate.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Failure Concentration: 60.9% of all failures (19,585) come from two billers, Biller_29 and Biller_26, which handle only 19.6% of traffic.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High-Volume Product Risk: TNP23, the #3 SKU by volume (22.3k tx), fails 22.75% of the time.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Broken Denominations: XDF1000 (6.2k tx) fails 58.73% of the time, XDF2000 53.47% and XDF3000 48.28%, pointing to an upstream catalogue or denomination problem.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Data Quality: 1,923 transactions (0.6%) used lower-case product codes such as xdg1. They failed 34.9% of the time vs 10.0% for standard codes. Codes were upper-cased before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 Volume Distribution: Pareto Concentration</a:t>
            </a:r>
          </a:p>
        </p:txBody>
      </p:sp>
      <p:pic>
        <p:nvPicPr>
          <p:cNvPr id="4" name="Picture 3" descr="06_pareto_volum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29468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Top Volume Drivers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Heavy Pareto Skew: The top 5 SKUs carry 57.3% of volume (181.3k tx). It takes 20 SKUs to pass 80% (81.4%).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Leading SKU (SB20): 79,184 transactions (25.0% of volume) with a 94.70% success rate.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Runner-up (XDG1): 41,492 transactions (13.1% of volume) with a 96.47% success rate.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Volume Vulnerability (TNP23): Ranked #3 in volume (22,334 tx) but plagued by a 22.75% failure rate (5,082 failed tx).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Implication: The top 3 SKUs carry 45.2% of volume, so close monitoring of just three products protects almost half of all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Hotspots: Products with Critical Failure Rates</a:t>
            </a:r>
          </a:p>
        </p:txBody>
      </p:sp>
      <p:pic>
        <p:nvPicPr>
          <p:cNvPr id="4" name="Picture 3" descr="03_critical_high_failure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378662"/>
          </a:xfrm>
          <a:prstGeom prst="rect">
            <a:avLst/>
          </a:prstGeom>
        </p:spPr>
      </p:pic>
      <p:pic>
        <p:nvPicPr>
          <p:cNvPr id="5" name="Picture 4" descr="02_top10_products_volume_and_failur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4937760" cy="24481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CRITICAL DIAGNOSTIC FINDINGS:</a:t>
            </a:r>
          </a:p>
          <a:p>
            <a:pPr>
              <a:defRPr sz="1050">
                <a:solidFill>
                  <a:srgbClr val="7F1D1D"/>
                </a:solidFill>
              </a:defRPr>
            </a:pPr>
            <a:r>
              <a:t>1. XDF series (Biller_29): XDF1000, XDF2000 and XDF3000 fail 58.73%, 53.47% and 48.28% of the time, which points to a denomination mismatch or a stock/balance problem upstream.</a:t>
            </a:r>
            <a:br/>
            <a:r>
              <a:t>2. TNP series (Biller_26): TNP13 (37.35%) and TNP23 (22.75%) are high-demand products with high failure. No other biller carries them in this data, so a backup supplier is needed before any failover.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Biller Performance: Volume vs Failure Concentration</a:t>
            </a:r>
          </a:p>
        </p:txBody>
      </p:sp>
      <p:pic>
        <p:nvPicPr>
          <p:cNvPr id="4" name="Picture 3" descr="04_biller_performance_and_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32471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371600"/>
            <a:ext cx="32004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508760"/>
            <a:ext cx="2926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Biller Insights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Biller_27 Backbone: Handles 50.4% of traffic (159.4k tx) at a 94.3% success rate.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Biller_29 Alert: 60.6% success rate (39.38% failure rate); 31.4% of all failures.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Biller_26 Bottleneck: 73.96% success rate (26.04% failure rate); 29.5% of all failures.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Vendor Risk: Together they cause 60.9% of failures on only 19.6% of volume.</a:t>
            </a:r>
          </a:p>
          <a:p>
            <a:pPr>
              <a:spcAft>
                <a:spcPts val="600"/>
              </a:spcAft>
              <a:defRPr sz="950">
                <a:solidFill>
                  <a:srgbClr val="0F172A"/>
                </a:solidFill>
              </a:defRPr>
            </a:pPr>
            <a:r>
              <a:t>• No Backup Route: Their SKUs are not served by any other biller in the data (2 of 19,585 failures), so rerouting first needs a new supplier.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Temporal Load Analysis: 24-Hour Traffic Curve &amp; Failure Patterns</a:t>
            </a:r>
          </a:p>
        </p:txBody>
      </p:sp>
      <p:pic>
        <p:nvPicPr>
          <p:cNvPr id="4" name="Picture 3" descr="05_hourly_traffic_load_and_failu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31366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371600"/>
            <a:ext cx="36576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Traffic &amp; Load Patterns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Evening Peak (17:00 - 19:00): 18:00 WIB is the busiest hour: 24,787 transactions over the three days (~8.3k per day). 17:00-19:00 carries 21.3% of volume.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Morning Load (07:00 - 09:00): About 6.7k transactions per hour per day.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Off-Peak (01:00 - 04:00): 02:00-03:00 WIB is the quietest window (~530 transactions per hour per day), suitable for batch reconciliation.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Load vs Failure: Hourly failure rate ranges from 7.0% to 13.4% and does not rise with volume (18:00 is 9.1%), so failures are driven by billers and SKUs, not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B2B Partner Ecosystem &amp; Customer Experience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B2B Partner Exposure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46 Unique B2B Partners integrated into the gateway.</a:t>
            </a:r>
            <a:br/>
            <a:r>
              <a:t>• Top 5 Partners account for 66.0% (208.9k tx) of total system volume.</a:t>
            </a:r>
            <a:br/>
            <a:r>
              <a:t>• Partner_07 is the largest client (79,974 tx), followed by Partner_12 (55,304 tx).</a:t>
            </a:r>
            <a:br/>
            <a:r>
              <a:t>• Risk: biller failures pass straight through to partners and can affect partner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Customer Experience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291,662 unique customer MSISDNs analyzed.</a:t>
            </a:r>
            <a:br/>
            <a:r>
              <a:t>• 32,150 failed transactions, each a failed purchase attempt for a customer.</a:t>
            </a:r>
            <a:br/>
            <a:r>
              <a:t>• Repeated failures risk customers abandoning the purchase or switching apps.</a:t>
            </a:r>
            <a:br/>
            <a:r>
              <a:t>• Clear status messages and safe retries reduce that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Recovery Potential (illustrative)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Every 10% of failures recovered is about 3,200 transactions per 3-day window.</a:t>
            </a:r>
            <a:br/>
            <a:r>
              <a:t>• The two worst billers account for 19,585 failures, the largest single lever.</a:t>
            </a:r>
            <a:br/>
            <a:r>
              <a:t>• Revenue impact cannot be estimated: the data has no transaction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Actionable Strategy: 4-Pillar Operational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1. Backup Biller &amp; Health-Based Routing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Onboard a second supplier for the XDF and TNP product lines (none exists in this data). Then switch traffic automatically when a biller's failure rate passes 10% in a 5-minute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2. Automated Retry with Exponential Backoff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For transient errors on top SKUs (TNP23, STU15), retry up to 3 times with backoff before returning a final 'FAILED' status to the customer.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3. Biller Performance Targets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Agree a success-rate target (e.g. 95%) with Biller_29 and Biller_26, review it weekly, and add deposit-balance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39496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4. Peak-Hour Monitoring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Watch failure rate and latency closely between 16:30 and 20:00 WIB. The data shows no capacity problem yet, so any scaling should follow latency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FINTECH OPERATIONS &amp;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Implementation &amp; Portfolio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SQL &amp; Database Engineering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Indexed SQLite schema (`idx_trans_date`, `idx_status`, `idx_biller_name`).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Engineered analytical SQL views (`v_daily_biller_summary`, `v_hourly_traffic`).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Advanced queries: CTEs, Window Functions (`RANK()`, `SUM() OVER`), and Pareto cumulative distributions.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Product codes normalised to upper case (318 raw codes, 294 real SKUs).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D9488"/>
                </a:solidFill>
              </a:defRPr>
            </a:pPr>
            <a:r>
              <a:t>Python Data Analytics Pipeline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Pandas for high-volume data cleaning, type coercion &amp; aggregation.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Anonymized PII with deterministic hashing &amp; mapping verification.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Automated visualization generator (Seaborn &amp; Matplotlib at 300 DPI).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Automated PowerPoint reporting engine via `python-pptx`.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Business Impact &amp; BI Modeling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Pareto product volume concentration.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Biller failure concentration analysis.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24-hour load and failure profile.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Recommendations limited to what the data can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PORTFOLIO SUMMARY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Thank You / Q&amp;A</a:t>
            </a:r>
          </a:p>
          <a:p>
            <a:pPr>
              <a:spcAft>
                <a:spcPts val="2500"/>
              </a:spcAft>
              <a:defRPr sz="1600">
                <a:solidFill>
                  <a:srgbClr val="CBD5E1"/>
                </a:solidFill>
              </a:defRPr>
            </a:pPr>
            <a:r>
              <a:t>This end-to-end project demonstrates business problem framing, SQL data modeling, exploratory data analysis, root-cause diagnostics, and executive presentation design.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Candidate: Novaldi Ramadhan Waluyo | Email: novaldiramadhan28@gmail.com | GitHub: github.com/Achimedes28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