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38BDF8"/>
                </a:solidFill>
              </a:defRPr>
            </a:pPr>
            <a:r>
              <a:t>DATA ANALYTICS CASE STUDY</a:t>
            </a:r>
          </a:p>
          <a:p>
            <a:pPr>
              <a:spcAft>
                <a:spcPts val="1000"/>
              </a:spcAft>
              <a:defRPr sz="3200" b="1">
                <a:solidFill>
                  <a:srgbClr val="FFFFFF"/>
                </a:solidFill>
              </a:defRPr>
            </a:pPr>
            <a:r>
              <a:t>Fintech &amp; PPOB Transaction Operations Analytics</a:t>
            </a:r>
          </a:p>
          <a:p>
            <a:pPr>
              <a:spcAft>
                <a:spcPts val="3000"/>
              </a:spcAft>
              <a:defRPr sz="1800">
                <a:solidFill>
                  <a:srgbClr val="CBD5E1"/>
                </a:solidFill>
              </a:defRPr>
            </a:pPr>
            <a:r>
              <a:t>Volume Concentration, Biller Failure Bottlenecks, Peak Load Patterns &amp; Vendor Risk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Dataset: 316,376 masked transactions (1, 5 and 6 Aug 2026) | Tech Stack: SQL, Python (pandas/Seaborn), Power BI | Author: Novaldi Ramadhan Waluyo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FINTECH OPERATIONS &amp; DATA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Executive Summary: Operational Performance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24688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TOTAL VOLUME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316,376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Analyzed across 3 operational days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371600"/>
            <a:ext cx="24688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146304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SUCCESS RATE</a:t>
            </a:r>
          </a:p>
          <a:p>
            <a:pPr>
              <a:defRPr sz="2200" b="1">
                <a:solidFill>
                  <a:srgbClr val="10B981"/>
                </a:solidFill>
              </a:defRPr>
            </a:pPr>
            <a:r>
              <a:t>89.84%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284,226 settled transactions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24688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46304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FAILURE RATE</a:t>
            </a:r>
          </a:p>
          <a:p>
            <a:pPr>
              <a:defRPr sz="2200" b="1">
                <a:solidFill>
                  <a:srgbClr val="EF4444"/>
                </a:solidFill>
              </a:defRPr>
            </a:pPr>
            <a:r>
              <a:t>10.16%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32,150 failed transactions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371600"/>
            <a:ext cx="24688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146304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FAILURE CONCENTRATION</a:t>
            </a:r>
          </a:p>
          <a:p>
            <a:pPr>
              <a:defRPr sz="2200" b="1">
                <a:solidFill>
                  <a:srgbClr val="D97706"/>
                </a:solidFill>
              </a:defRPr>
            </a:pPr>
            <a:r>
              <a:t>60.9%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19,585 failures from 2 billers</a:t>
            </a:r>
          </a:p>
        </p:txBody>
      </p:sp>
      <p:pic>
        <p:nvPicPr>
          <p:cNvPr id="12" name="Picture 11" descr="01_overall_statu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834640"/>
            <a:ext cx="3208917" cy="356616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035040" y="2834640"/>
            <a:ext cx="5394960" cy="3566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2926080"/>
            <a:ext cx="50292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1E3A8A"/>
                </a:solidFill>
              </a:defRPr>
            </a:pPr>
            <a:r>
              <a:t>Key Operational Highlights &amp; Problem Statement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• Volume Baseline: 316.4k transactions over three days with an overall 89.84% success rate.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• Failure Concentration: 60.9% of all failures (19,585) come from two billers, Biller_29 and Biller_26, which handle only 19.6% of traffic.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• High-Volume Product Risk: TNP23, the #3 SKU by volume (22.3k tx), fails 22.75% of the time.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• Broken Denominations: XDF1000 (6.2k tx) fails 58.73% of the time, XDF2000 53.47% and XDF3000 48.28%, pointing to an upstream catalogue or denomination problem.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• Data Quality: 1,923 transactions (0.6%) used lower-case product codes such as xdg1. They failed 34.9% of the time vs 10.0% for standard codes. Codes were upper-cased before analysis.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FINTECH OPERATIONS &amp; DATA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Product Volume Distribution: Pareto Concentration</a:t>
            </a:r>
          </a:p>
        </p:txBody>
      </p:sp>
      <p:pic>
        <p:nvPicPr>
          <p:cNvPr id="4" name="Picture 3" descr="06_pareto_volume_concen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943600" cy="33627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858000" y="1371600"/>
            <a:ext cx="457200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0" y="1554480"/>
            <a:ext cx="4206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1E3A8A"/>
                </a:solidFill>
              </a:defRPr>
            </a:pPr>
            <a:r>
              <a:t>Top Volume Drivers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Heavy Pareto Skew: The top 5 SKUs carry 57.3% of volume (181.3k tx). 19 of 294 SKUs are enough to pass 80% (80.3%).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Leading SKU (SB20): 79,184 transactions (25.0% of volume) with a 94.70% success rate.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Runner-up (XDG1): 41,492 transactions (13.1% of volume) with a 96.47% success rate.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Volume Vulnerability (TNP23): Ranked #3 in volume (22,334 tx) but plagued by a 22.75% failure rate (5,082 failed tx).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Implication: The top 3 SKUs carry 45.2% of volume, so close monitoring of just three products protects almost half of all transactions.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FINTECH OPERATIONS &amp; DATA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Operational Hotspots: Products with Critical Failure Rates</a:t>
            </a:r>
          </a:p>
        </p:txBody>
      </p:sp>
      <p:pic>
        <p:nvPicPr>
          <p:cNvPr id="4" name="Picture 3" descr="03_critical_high_failure_produ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669280" cy="3869458"/>
          </a:xfrm>
          <a:prstGeom prst="rect">
            <a:avLst/>
          </a:prstGeom>
        </p:spPr>
      </p:pic>
      <p:pic>
        <p:nvPicPr>
          <p:cNvPr id="5" name="Picture 4" descr="02_top10_products_volume_and_failure_r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371600"/>
            <a:ext cx="4937760" cy="27128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5120640"/>
            <a:ext cx="10698480" cy="12801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2120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EF4444"/>
                </a:solidFill>
              </a:defRPr>
            </a:pPr>
            <a:r>
              <a:t>CRITICAL DIAGNOSTIC FINDINGS:</a:t>
            </a:r>
          </a:p>
          <a:p>
            <a:pPr>
              <a:defRPr sz="1050">
                <a:solidFill>
                  <a:srgbClr val="7F1D1D"/>
                </a:solidFill>
              </a:defRPr>
            </a:pPr>
            <a:r>
              <a:t>1. XDF series (Biller_29): XDF1000, XDF2000 and XDF3000 fail 58.73%, 53.47% and 48.28% of the time, which points to a denomination mismatch or a stock/balance problem upstream.</a:t>
            </a:r>
            <a:br/>
            <a:r>
              <a:t>2. TNP series (Biller_26): TNP13 (37.35%) and TNP23 (22.75%) are high-demand products with high failure. No other biller carries them in this data, so a backup supplier is needed before any failover.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FINTECH OPERATIONS &amp; DATA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Biller Performance: Volume vs Failure Concentration</a:t>
            </a:r>
          </a:p>
        </p:txBody>
      </p:sp>
      <p:pic>
        <p:nvPicPr>
          <p:cNvPr id="4" name="Picture 3" descr="04_biller_performance_and_s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7315200" cy="385187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229600" y="1371600"/>
            <a:ext cx="320040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1508760"/>
            <a:ext cx="2926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E3A8A"/>
                </a:solidFill>
              </a:defRPr>
            </a:pPr>
            <a:r>
              <a:t>Biller Insights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</a:defRPr>
            </a:pPr>
            <a:r>
              <a:t>• Biller_27 Backbone: Handles 50.4% of traffic (159.4k tx) at a 94.3% success rate.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</a:defRPr>
            </a:pPr>
            <a:r>
              <a:t>• Biller_29 Alert: 60.6% success rate (39.38% failure rate); 31.4% of all failures.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</a:defRPr>
            </a:pPr>
            <a:r>
              <a:t>• Biller_26 Bottleneck: 73.96% success rate (26.04% failure rate); 29.5% of all failures.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</a:defRPr>
            </a:pPr>
            <a:r>
              <a:t>• Vendor Risk: Together they cause 60.9% of failures on only 19.6% of volume.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</a:defRPr>
            </a:pPr>
            <a:r>
              <a:t>• No Backup Route: Their SKUs are not served by any other biller in the data (2 of 19,585 failures), so rerouting first needs a new supplier.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FINTECH OPERATIONS &amp; DATA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Temporal Load Analysis: 24-Hour Traffic Curve &amp; Failure Patterns</a:t>
            </a:r>
          </a:p>
        </p:txBody>
      </p:sp>
      <p:pic>
        <p:nvPicPr>
          <p:cNvPr id="4" name="Picture 3" descr="05_hourly_traffic_load_and_failure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858000" cy="357413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371600"/>
            <a:ext cx="365760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1554480"/>
            <a:ext cx="32918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E3A8A"/>
                </a:solidFill>
              </a:defRPr>
            </a:pPr>
            <a:r>
              <a:t>Traffic &amp; Load Patterns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Evening Peak (17:00 - 19:00): 18:00 WIB is the busiest hour: 24,787 transactions over the three days (~8.3k per day). 17:00-19:00 carries 21.3% of volume.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Morning Load (07:00 - 09:00): About 6.7k transactions per hour per day.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Off-Peak (01:00 - 04:00): 02:00-03:00 WIB is the quietest window (~530 transactions per hour per day), suitable for batch reconciliation.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Load vs Failure: Hourly failure rate ranges from 7.0% to 13.4% and does not rise with volume (18:00 is 9.1%), so failures are driven by billers and SKUs, not load.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FINTECH OPERATIONS &amp; DATA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B2B Partner Ecosystem &amp; Customer Experience Risk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B2B Partner Exposure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46 Unique B2B Partners integrated into the gateway.</a:t>
            </a:r>
            <a:br/>
            <a:r>
              <a:t>• Top 5 Partners account for 66.0% (208.9k tx) of total system volume.</a:t>
            </a:r>
            <a:br/>
            <a:r>
              <a:t>• Partner_07 is the largest client (79,974 tx), followed by Partner_12 (55,304 tx).</a:t>
            </a:r>
            <a:br/>
            <a:r>
              <a:t>• Risk: biller failures pass straight through to partners and can affect partner retention.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63040"/>
            <a:ext cx="338328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Customer Experience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291,662 unique customer MSISDNs analyzed.</a:t>
            </a:r>
            <a:br/>
            <a:r>
              <a:t>• 32,150 failed transactions, each a failed purchase attempt for a customer.</a:t>
            </a:r>
            <a:br/>
            <a:r>
              <a:t>• Repeated failures risk customers abandoning the purchase or switching apps.</a:t>
            </a:r>
            <a:br/>
            <a:r>
              <a:t>• Clear status messages and safe retries reduce that friction.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383280" cy="484632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D9488"/>
                </a:solidFill>
              </a:defRPr>
            </a:pPr>
            <a:r>
              <a:t>Recovery Potential (illustrative)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Every 10% of failures recovered is about 3,200 transactions per 3-day window.</a:t>
            </a:r>
            <a:br/>
            <a:r>
              <a:t>• The two worst billers account for 19,585 failures, the largest single lever.</a:t>
            </a:r>
            <a:br/>
            <a:r>
              <a:t>• Revenue impact cannot be estimated: the data has no transaction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FINTECH OPERATIONS &amp; DATA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Actionable Strategy: 4-Pillar Operational Optimization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394960" cy="2377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E3A8A"/>
                </a:solidFill>
              </a:defRPr>
            </a:pPr>
            <a:r>
              <a:t>1. Backup Biller &amp; Health-Based Routing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Onboard a second supplier for the XDF and TNP product lines (none exists in this data). Then switch traffic automatically when a biller's failure rate passes 10% in a 5-minute window.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63040"/>
            <a:ext cx="5394960" cy="2377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D9488"/>
                </a:solidFill>
              </a:defRPr>
            </a:pPr>
            <a:r>
              <a:t>2. Automated Retry with Exponential Backoff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For transient errors on top SKUs (TNP23, STU15), retry up to 3 times with backoff before returning a final 'FAILED' status to the customer.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5394960" cy="2377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20624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EF4444"/>
                </a:solidFill>
              </a:defRPr>
            </a:pPr>
            <a:r>
              <a:t>3. Biller Performance Targets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Agree a success-rate target (e.g. 95%) with Biller_29 and Biller_26, review it weekly, and add deposit-balance alerts.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4023360"/>
            <a:ext cx="5394960" cy="2377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420624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D97706"/>
                </a:solidFill>
              </a:defRPr>
            </a:pPr>
            <a:r>
              <a:t>4. Peak-Hour Monitoring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Watch failure rate and latency closely between 16:30 and 20:00 WIB. The data shows no capacity problem yet, so any scaling should follow latency data.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FINTECH OPERATIONS &amp; DATA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Technical Implementation &amp; Portfolio Deliverables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E3A8A"/>
                </a:solidFill>
              </a:defRPr>
            </a:pPr>
            <a:r>
              <a:t>SQL &amp; Database Engineering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• Indexed SQLite schema (`idx_trans_date`, `idx_status`, `idx_biller_name`).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• Engineered analytical SQL views (`v_daily_biller_summary`, `v_hourly_traffic`).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• Advanced queries: CTEs, Window Functions (`RANK()`, `SUM() OVER`), and Pareto cumulative distributions.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• Product codes normalised to upper case (318 raw codes, 294 real SKUs).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63040"/>
            <a:ext cx="338328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D9488"/>
                </a:solidFill>
              </a:defRPr>
            </a:pPr>
            <a:r>
              <a:t>Python Data Analytics Pipeline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• Pandas for high-volume data cleaning, type coercion &amp; aggregation.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• Anonymized PII with deterministic hashing &amp; mapping verification.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• Automated visualization generator (Seaborn &amp; Matplotlib at 300 DPI).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• Automated PowerPoint reporting engine via `python-pptx`.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38328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0B981"/>
                </a:solidFill>
              </a:defRPr>
            </a:pPr>
            <a:r>
              <a:t>Business Impact &amp; BI Modeling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• Pareto product volume concentration.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• Biller failure concentration analysis.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• 24-hour load and failure profile.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• Recommendations limited to what the data can support.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</a:defRPr>
            </a:pPr>
            <a:r>
              <a:t>PORTFOLIO SUMMARY</a:t>
            </a:r>
          </a:p>
          <a:p>
            <a:pPr>
              <a:spcAft>
                <a:spcPts val="1400"/>
              </a:spcAft>
              <a:defRPr sz="3600" b="1">
                <a:solidFill>
                  <a:srgbClr val="FFFFFF"/>
                </a:solidFill>
              </a:defRPr>
            </a:pPr>
            <a:r>
              <a:t>Thank You / Q&amp;A</a:t>
            </a:r>
          </a:p>
          <a:p>
            <a:pPr>
              <a:spcAft>
                <a:spcPts val="2500"/>
              </a:spcAft>
              <a:defRPr sz="1600">
                <a:solidFill>
                  <a:srgbClr val="CBD5E1"/>
                </a:solidFill>
              </a:defRPr>
            </a:pPr>
            <a:r>
              <a:t>This end-to-end project demonstrates business problem framing, SQL data modeling, exploratory data analysis, root-cause diagnostics, and executive presentation design.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Candidate: Novaldi Ramadhan Waluyo | Email: novaldiramadhan28@gmail.com | GitHub: github.com/Achimedes28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